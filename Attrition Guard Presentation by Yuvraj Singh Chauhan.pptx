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3EABF-CA27-47D4-BAD7-CC052F70075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B9C59-C844-4CE8-B5C6-49DD0E48D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26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B9C59-C844-4CE8-B5C6-49DD0E48DC2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222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B9C59-C844-4CE8-B5C6-49DD0E48DC2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911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B9C59-C844-4CE8-B5C6-49DD0E48DC2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20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B9C59-C844-4CE8-B5C6-49DD0E48DC2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02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6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8.png"/><Relationship Id="rId9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8.png"/><Relationship Id="rId7" Type="http://schemas.openxmlformats.org/officeDocument/2006/relationships/image" Target="../media/image6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moody_cinematic_nighttime_office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1051560"/>
            <a:ext cx="6309360" cy="4892040"/>
          </a:xfrm>
          <a:prstGeom prst="rect">
            <a:avLst/>
          </a:prstGeom>
          <a:solidFill>
            <a:srgbClr val="05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8" y="1490472"/>
            <a:ext cx="64008" cy="3401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298448"/>
            <a:ext cx="5303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Aptos"/>
              </a:rPr>
              <a:t>PYTHON  •  HR ANALYTICS  • 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828800"/>
            <a:ext cx="55778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4900" b="1">
                <a:solidFill>
                  <a:srgbClr val="F8FAFC"/>
                </a:solidFill>
                <a:latin typeface="Georgia"/>
              </a:rPr>
              <a:t>Attrition </a:t>
            </a:r>
            <a:r>
              <a:rPr sz="4900" b="1">
                <a:solidFill>
                  <a:srgbClr val="0D9488"/>
                </a:solidFill>
                <a:latin typeface="Georgia"/>
              </a:rPr>
              <a:t>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79192"/>
            <a:ext cx="5212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Early Warning (Attrition) Indicator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3182112"/>
            <a:ext cx="182880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45643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YUVRAJ SINGH CHAUHAN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840480"/>
            <a:ext cx="4572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ptos"/>
              </a:rPr>
              <a:t>ROLL NO. 66   |   DIVISION: BRAVO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407408"/>
            <a:ext cx="51206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Spot risk  •  Understand why  •  Take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6272784"/>
            <a:ext cx="10671048" cy="109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6345936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Experiential Learning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6345936"/>
            <a:ext cx="24231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Python • Streamlit • HR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345936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32470"/>
            <a:ext cx="5048250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Business Context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&amp;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8550" y="6410325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32470"/>
            <a:ext cx="53006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192C"/>
                </a:solidFill>
                <a:latin typeface="Inter"/>
              </a:rPr>
              <a:t>The Cost of Reactive HR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432470"/>
            <a:ext cx="504825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7751" y="2139804"/>
            <a:ext cx="47625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334155"/>
                </a:solidFill>
                <a:latin typeface="Inter"/>
              </a:rPr>
              <a:t>High Turnover Costs:</a:t>
            </a:r>
            <a:r>
              <a:rPr sz="1425" b="0" i="0" u="none" dirty="0">
                <a:solidFill>
                  <a:srgbClr val="334155"/>
                </a:solidFill>
                <a:latin typeface="Inter"/>
              </a:rPr>
              <a:t> Organizations lose significant capital in recruitment, onboarding, and lost productivity when top talent leaves unexpectedly.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1" y="3151091"/>
            <a:ext cx="47625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Reactive Processes: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Traditionally, HR teams only discover employee dissatisfaction during exit interviews—when it is already too late to intervene.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1" y="4162378"/>
            <a:ext cx="47625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The Need: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HR requires a proactive, data-driven early-warning mechanism to identify flight risks and prioritize interventions appropriately.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2158854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3170141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4181428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28267"/>
            <a:ext cx="2452687" cy="3062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7" y="2328267"/>
            <a:ext cx="2452687" cy="30622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328267"/>
            <a:ext cx="2452687" cy="30622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7312" y="2328267"/>
            <a:ext cx="2452687" cy="30622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Key Challenges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To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410325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 Medium"/>
              </a:rPr>
              <a:t>03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2652117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50" y="3414117"/>
            <a:ext cx="1570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 SemiBold"/>
              </a:rPr>
              <a:t>Who is at risk?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776067"/>
            <a:ext cx="19573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Identifying hidden flight risks, especially among high-performing or tenured employees who may not voice dissatisfaction.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8087" y="2652117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48087" y="3414117"/>
            <a:ext cx="187023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 SemiBold"/>
              </a:rPr>
              <a:t>How serious is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8087" y="3776067"/>
            <a:ext cx="19573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Quantifying an interpretable attrition risk score used to prioritize HR bandwidth and resource allocation effectively.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652117"/>
            <a:ext cx="571500" cy="57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6525" y="3414117"/>
            <a:ext cx="205525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 SemiBold"/>
              </a:rPr>
              <a:t>Why might they leave?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023717"/>
            <a:ext cx="19573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Pinpointing the root causes—whether it is salary stagnation, excessive workload, or lack of promotion.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4962" y="2652117"/>
            <a:ext cx="571500" cy="571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24962" y="3414117"/>
            <a:ext cx="205525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 SemiBold"/>
              </a:rPr>
              <a:t>What should HR do?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4962" y="4023717"/>
            <a:ext cx="19573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Moving away from generic retention policies to targeted, personalized interventions based on specific data triggers.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900" y="2785467"/>
            <a:ext cx="381000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1437" y="2785467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9875" y="2785467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0212" y="2785467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32470"/>
            <a:ext cx="5048250" cy="46568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2" y="1251844"/>
            <a:ext cx="5048250" cy="4656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Business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58550" y="6410325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1775370"/>
            <a:ext cx="4580572" cy="266700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B192C"/>
                </a:solidFill>
                <a:latin typeface="Merriweather"/>
              </a:rPr>
              <a:t>Core Assignment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1775370"/>
            <a:ext cx="4580572" cy="2667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B192C"/>
                </a:solidFill>
                <a:latin typeface="Merriweather"/>
              </a:rPr>
              <a:t>Added Project Scope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1803945"/>
            <a:ext cx="16192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50" y="2280195"/>
            <a:ext cx="40767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Import Data: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Securely ingest and process historical employee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3002012"/>
            <a:ext cx="40767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Risk Scoring: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Calculate an interpretable attrition risk score based on predefined business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3760886"/>
            <a:ext cx="40767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Highlight Risk: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Visually flag high-risk employees for immediate management visibility.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4490888"/>
            <a:ext cx="40767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Recommend Actions: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Provide specific interventions tied directly to the calculated reasons for leaving.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1803945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10400" y="2280195"/>
            <a:ext cx="40767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Interactive UI: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Developed a fully functional Streamlit dashboard for real-time data exploration.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008187"/>
            <a:ext cx="40767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Risk Grouping: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Implemented Unsupervised ML (K-Means) to identify employee risk personas.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3730004"/>
            <a:ext cx="40767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Explainable AI Profile: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Granular view of individual risk drivers for complete transparency.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4487536"/>
            <a:ext cx="40767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Action Center: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A dedicated module summarizing urgent retention strategies.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2299245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021062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779936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4509938"/>
            <a:ext cx="952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2299245"/>
            <a:ext cx="952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3027237"/>
            <a:ext cx="9525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3749054"/>
            <a:ext cx="952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4506586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985" y="2581206"/>
            <a:ext cx="666750" cy="66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695" y="2581206"/>
            <a:ext cx="666750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405" y="2581206"/>
            <a:ext cx="666750" cy="666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3115" y="2581206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Our Solution: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Attrition Guard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68075" y="6410325"/>
            <a:ext cx="161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5269" y="3486081"/>
            <a:ext cx="14601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B192C"/>
                </a:solidFill>
                <a:latin typeface="Inter"/>
              </a:rPr>
              <a:t>Employee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809931"/>
            <a:ext cx="234687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Automated ingestion of CSV datasets containing performance, HR, and behavioral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3995" y="3486081"/>
            <a:ext cx="12101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B192C"/>
                </a:solidFill>
                <a:latin typeface="Inter"/>
              </a:rPr>
              <a:t>Risk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709" y="3809931"/>
            <a:ext cx="234687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Rule-based engine calculates an aggregate score (0-100) and assigns Low, Med, High tiers.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700" y="348608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B192C"/>
                </a:solidFill>
                <a:latin typeface="Inter"/>
              </a:rPr>
              <a:t>Risk Explorer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419" y="3809931"/>
            <a:ext cx="234687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Interactive dashboard to filter workforce by department, salary, and identified risk groups.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6390" y="3486081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B192C"/>
                </a:solidFill>
                <a:latin typeface="Inter"/>
              </a:rPr>
              <a:t>Retention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3129" y="3809931"/>
            <a:ext cx="234687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System prescribes targeted interventions (e.g., Comp Review) for HR execution.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8250" y="3309868"/>
            <a:ext cx="97155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Assumptions &amp;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Expanded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8550" y="6410325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 Medium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36604"/>
            <a:ext cx="530066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Merriweather"/>
              </a:rPr>
              <a:t>A. Assumptions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246179"/>
            <a:ext cx="50482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1750" y="1836604"/>
            <a:ext cx="530066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Merriweather"/>
              </a:rPr>
              <a:t>B. Features Beyond 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1750" y="2246179"/>
            <a:ext cx="504825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7750" y="2503354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CBD5E1"/>
                </a:solidFill>
                <a:latin typeface="Inter"/>
              </a:rPr>
              <a:t>Data Quality:</a:t>
            </a:r>
            <a:r>
              <a:rPr sz="1425" b="0" i="0" u="none" dirty="0">
                <a:solidFill>
                  <a:srgbClr val="CBD5E1"/>
                </a:solidFill>
                <a:latin typeface="Inter"/>
              </a:rPr>
              <a:t> The ingested employee dataset is pre-cleaned and normalized.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3225171"/>
            <a:ext cx="4762500" cy="44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30" b="1" dirty="0">
                <a:solidFill>
                  <a:srgbClr val="CBD5E1"/>
                </a:solidFill>
                <a:latin typeface="Inter"/>
              </a:rPr>
              <a:t>Metric Scales: </a:t>
            </a:r>
            <a:r>
              <a:rPr sz="1430" dirty="0">
                <a:solidFill>
                  <a:srgbClr val="CBD5E1"/>
                </a:solidFill>
                <a:latin typeface="Inter"/>
              </a:rPr>
              <a:t>Satisfaction and evaluation scores in the supplied dataset use a 0–1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865149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CBD5E1"/>
                </a:solidFill>
                <a:latin typeface="Inter"/>
              </a:rPr>
              <a:t>Binary Flags:</a:t>
            </a:r>
            <a:r>
              <a:rPr sz="1425" b="0" i="0" u="none" dirty="0">
                <a:solidFill>
                  <a:srgbClr val="CBD5E1"/>
                </a:solidFill>
                <a:latin typeface="Inter"/>
              </a:rPr>
              <a:t> Work accidents and promotion history are binary indicators.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586965"/>
            <a:ext cx="47625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CBD5E1"/>
                </a:solidFill>
                <a:latin typeface="Inter"/>
              </a:rPr>
              <a:t>Weighting Efficacy:</a:t>
            </a:r>
            <a:r>
              <a:rPr sz="1425" b="0" i="0" u="none" dirty="0">
                <a:solidFill>
                  <a:srgbClr val="CBD5E1"/>
                </a:solidFill>
                <a:latin typeface="Inter"/>
              </a:rPr>
              <a:t> The predefined business rules (e.g., Satisfaction holding 30% weight) reflect a reasonable organizational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2503354"/>
            <a:ext cx="47625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CBD5E1"/>
                </a:solidFill>
                <a:latin typeface="Inter"/>
              </a:rPr>
              <a:t>K-Means Clustering:</a:t>
            </a:r>
            <a:r>
              <a:rPr sz="1425" b="0" i="0" u="none" dirty="0">
                <a:solidFill>
                  <a:srgbClr val="CBD5E1"/>
                </a:solidFill>
                <a:latin typeface="Inter"/>
              </a:rPr>
              <a:t> Added an ML module to segment high-risk employees into actionable "Personas" based on shared traits.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196764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CBD5E1"/>
                </a:solidFill>
                <a:latin typeface="Inter"/>
              </a:rPr>
              <a:t>Dynamic Filtering:</a:t>
            </a:r>
            <a:r>
              <a:rPr sz="1425" b="0" i="0" u="none" dirty="0">
                <a:solidFill>
                  <a:srgbClr val="CBD5E1"/>
                </a:solidFill>
                <a:latin typeface="Inter"/>
              </a:rPr>
              <a:t> Built a robust UI allowing HR to slice data dynamically rather than viewing static reports.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3918581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CBD5E1"/>
                </a:solidFill>
                <a:latin typeface="Inter"/>
              </a:rPr>
              <a:t>Explainability Layer:</a:t>
            </a:r>
            <a:r>
              <a:rPr sz="1425" b="0" i="0" u="none" dirty="0">
                <a:solidFill>
                  <a:srgbClr val="CBD5E1"/>
                </a:solidFill>
                <a:latin typeface="Inter"/>
              </a:rPr>
              <a:t> The application breaks down the specific point contributions for each employee's score.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22404"/>
            <a:ext cx="952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44221"/>
            <a:ext cx="952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884199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06015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522404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215814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937631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81583"/>
            <a:ext cx="4267200" cy="47556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69656"/>
            <a:ext cx="4267200" cy="13675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Risk Scoring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68075" y="6410325"/>
            <a:ext cx="161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81583"/>
            <a:ext cx="426720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34155"/>
                </a:solidFill>
                <a:latin typeface="Inter Medium"/>
              </a:rPr>
              <a:t>Risk Score Components (Total 100%):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5012531"/>
            <a:ext cx="413051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192C"/>
                </a:solidFill>
                <a:latin typeface="Inter"/>
              </a:rPr>
              <a:t>Implemented Risk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5759201"/>
            <a:ext cx="39338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*See Appendix for detailed scoring calculation rules.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298281"/>
            <a:ext cx="892373" cy="28947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9173" y="5298281"/>
            <a:ext cx="1323975" cy="28947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7448" y="5298281"/>
            <a:ext cx="876300" cy="289470"/>
          </a:xfrm>
          <a:prstGeom prst="rect">
            <a:avLst/>
          </a:prstGeom>
        </p:spPr>
      </p:pic>
      <p:pic>
        <p:nvPicPr>
          <p:cNvPr id="17" name="Picture 16" descr="preview_(7)(2)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3473" y="1764791"/>
            <a:ext cx="6749447" cy="34382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17316"/>
            <a:ext cx="1795462" cy="1209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337" y="2817316"/>
            <a:ext cx="1795462" cy="1209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169866"/>
            <a:ext cx="3733800" cy="552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817566"/>
            <a:ext cx="3733800" cy="552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465266"/>
            <a:ext cx="3733800" cy="552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The Risk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Landscape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58550" y="6410325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 Medium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701105"/>
            <a:ext cx="39204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erriweather"/>
              </a:rPr>
              <a:t>Current Filtered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091630"/>
            <a:ext cx="37338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Macro-level baseline of attrition risk based on the active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045916"/>
            <a:ext cx="141446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F8FAFC"/>
                </a:solidFill>
                <a:latin typeface="Inter"/>
              </a:rPr>
              <a:t>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3512641"/>
            <a:ext cx="14144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EMPLOYEES IN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0837" y="3045916"/>
            <a:ext cx="141446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F8FAFC"/>
                </a:solidFill>
                <a:latin typeface="Inter"/>
              </a:rPr>
              <a:t>34.7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0837" y="3512641"/>
            <a:ext cx="141446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AVG 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384178"/>
            <a:ext cx="7000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HIGH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303216"/>
            <a:ext cx="82296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 u="none">
                <a:solidFill>
                  <a:srgbClr val="F8FAFC"/>
                </a:solidFill>
                <a:latin typeface="Inter"/>
              </a:rPr>
              <a:t>184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5031878"/>
            <a:ext cx="93821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MEDIUM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950916"/>
            <a:ext cx="98755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 u="none">
                <a:solidFill>
                  <a:srgbClr val="F8FAFC"/>
                </a:solidFill>
                <a:latin typeface="Inter"/>
              </a:rPr>
              <a:t>4,330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5679578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LOW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5598616"/>
            <a:ext cx="98755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 u="none">
                <a:solidFill>
                  <a:srgbClr val="F8FAFC"/>
                </a:solidFill>
                <a:latin typeface="Inter"/>
              </a:rPr>
              <a:t>5,486</a:t>
            </a:r>
          </a:p>
        </p:txBody>
      </p:sp>
      <p:pic>
        <p:nvPicPr>
          <p:cNvPr id="26" name="Picture 25" descr="preview_(1)(2)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6632" y="1737360"/>
            <a:ext cx="6876288" cy="31821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74920" y="5084064"/>
            <a:ext cx="68122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Analytical view: department hotspots, common drivers, and employees to review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Risk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8550" y="6410325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78793"/>
            <a:ext cx="448056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192C"/>
                </a:solidFill>
                <a:latin typeface="Inter"/>
              </a:rPr>
              <a:t>Interactive Data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197893"/>
            <a:ext cx="4267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The Risk Explorer module provides HR with a dynamic tool to visually investigate underlying workforce trends.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2906315"/>
            <a:ext cx="39814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Interactive Selection: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Map any two attributes (e.g., Working Hours vs. Satisfaction) on the X and Y axes.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3688997"/>
            <a:ext cx="39814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334155"/>
                </a:solidFill>
                <a:latin typeface="Inter"/>
              </a:rPr>
              <a:t>Relationship Visualization:</a:t>
            </a:r>
            <a:r>
              <a:rPr sz="1425" b="0" i="0" u="none" dirty="0">
                <a:solidFill>
                  <a:srgbClr val="334155"/>
                </a:solidFill>
                <a:latin typeface="Inter"/>
              </a:rPr>
              <a:t> Explore visual relationships between employee attributes and observed risk bands.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4700284"/>
            <a:ext cx="39814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Dynamic Filtering: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Narrow the scope by Department or Risk Level using the sidebar controls.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925365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708047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719334"/>
            <a:ext cx="95250" cy="200025"/>
          </a:xfrm>
          <a:prstGeom prst="rect">
            <a:avLst/>
          </a:prstGeom>
        </p:spPr>
      </p:pic>
      <p:pic>
        <p:nvPicPr>
          <p:cNvPr id="17" name="Picture 16" descr="preview_(2)(2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560" y="1608006"/>
            <a:ext cx="6690360" cy="31285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61455" y="4874215"/>
            <a:ext cx="6309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0" dirty="0">
                <a:solidFill>
                  <a:srgbClr val="64748B"/>
                </a:solidFill>
                <a:latin typeface="Aptos"/>
              </a:rPr>
              <a:t>Interactive scatter view: change X/Y attributes and narrow the workforce using sidebar filters.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38488"/>
            <a:ext cx="4023360" cy="2833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Employee-Level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94A3B8"/>
                </a:solidFill>
                <a:latin typeface="Inter Medium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702296"/>
            <a:ext cx="448056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Beyond the Black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69021"/>
            <a:ext cx="42672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The application identifies specific warning signs rather than just outputting a numerical score, indicating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why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an employee is flagged.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338512"/>
            <a:ext cx="1581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Profile: EMP06078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557587"/>
            <a:ext cx="25717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Support Dept | Low Salary | 4 Yrs Tenure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919537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EF4444"/>
                </a:solidFill>
                <a:latin typeface="Inter"/>
              </a:rPr>
              <a:t>Risk Score: 83/100 (High)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315968"/>
            <a:ext cx="38385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Primary Drivers: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492942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4491037"/>
            <a:ext cx="3648075" cy="28947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Low job satisfaction (0.15)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934813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4932908"/>
            <a:ext cx="3648075" cy="28947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Historically high-attrition tenure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5376683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5374778"/>
            <a:ext cx="3648075" cy="28947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No recent promotion / stalled growth</a:t>
            </a:r>
          </a:p>
        </p:txBody>
      </p:sp>
      <p:pic>
        <p:nvPicPr>
          <p:cNvPr id="22" name="Picture 21" descr="preview_(3)(2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034" y="1764791"/>
            <a:ext cx="6659886" cy="3114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Risk Groups &amp;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Employee 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4748B"/>
                </a:solidFill>
                <a:latin typeface="Inter Medium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26134"/>
            <a:ext cx="37338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Utilizing Scikit-Learn's K-Means clustering, the system identifies data-driven risk personas. This allows HR to design group-level retention approaches rather than reviewing every employee independently.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975415"/>
            <a:ext cx="6858000" cy="220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D8E412-62DC-1847-58C2-006431100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1" y="1124980"/>
            <a:ext cx="6842760" cy="2776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86919"/>
            <a:ext cx="4267200" cy="819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648944"/>
            <a:ext cx="2062162" cy="771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7037" y="4648944"/>
            <a:ext cx="2062162" cy="771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Retention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Action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94A3B8"/>
                </a:solidFill>
                <a:latin typeface="Inter Medium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298352"/>
            <a:ext cx="448056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Retention Planning &amp;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717452"/>
            <a:ext cx="42672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This module bridges the gap between identifying risk and taking action, aggregating employees who require attention in the current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8369"/>
            <a:ext cx="1876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TOTAL NEEDING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9819"/>
            <a:ext cx="3962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4,514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20394"/>
            <a:ext cx="981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CA5A5"/>
                </a:solidFill>
                <a:latin typeface="Inter"/>
              </a:rPr>
              <a:t>HIGH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91844"/>
            <a:ext cx="17573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Inter"/>
              </a:rPr>
              <a:t>184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9437" y="4820394"/>
            <a:ext cx="12096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CD34D"/>
                </a:solidFill>
                <a:latin typeface="Inter"/>
              </a:rPr>
              <a:t>MEDIUM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9437" y="4991844"/>
            <a:ext cx="17573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59E0B"/>
                </a:solidFill>
                <a:latin typeface="Inter"/>
              </a:rPr>
              <a:t>4,330</a:t>
            </a:r>
          </a:p>
        </p:txBody>
      </p:sp>
      <p:pic>
        <p:nvPicPr>
          <p:cNvPr id="20" name="Picture 19" descr="preview_(6)(2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202" y="1764792"/>
            <a:ext cx="6376718" cy="29819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 dirty="0">
                <a:solidFill>
                  <a:srgbClr val="0B192C"/>
                </a:solidFill>
                <a:latin typeface="Merriweather"/>
              </a:rPr>
              <a:t>Retention </a:t>
            </a:r>
            <a:r>
              <a:rPr sz="3150" b="1" i="0" u="none" dirty="0">
                <a:solidFill>
                  <a:srgbClr val="0D9488"/>
                </a:solidFill>
                <a:latin typeface="Merriweather"/>
              </a:rPr>
              <a:t>Strategy Framework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547491"/>
              </p:ext>
            </p:extLst>
          </p:nvPr>
        </p:nvGraphicFramePr>
        <p:xfrm>
          <a:off x="694944" y="1225296"/>
          <a:ext cx="1066800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 dirty="0">
                          <a:solidFill>
                            <a:srgbClr val="0B192C"/>
                          </a:solidFill>
                          <a:latin typeface="Aptos"/>
                        </a:rPr>
                        <a:t>Identified Warning Sign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 dirty="0">
                          <a:solidFill>
                            <a:srgbClr val="0B192C"/>
                          </a:solidFill>
                          <a:latin typeface="Aptos"/>
                        </a:rPr>
                        <a:t>Core HR Concern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 dirty="0">
                          <a:solidFill>
                            <a:srgbClr val="0B192C"/>
                          </a:solidFill>
                          <a:latin typeface="Aptos"/>
                        </a:rPr>
                        <a:t>Recommended Intervention Approach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u="none" dirty="0">
                          <a:solidFill>
                            <a:srgbClr val="000000"/>
                          </a:solidFill>
                          <a:latin typeface="Aptos"/>
                        </a:rPr>
                        <a:t>Low Satisfaction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ptos"/>
                        </a:rPr>
                        <a:t>Engagement &amp; Morale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D97706"/>
                          </a:solidFill>
                          <a:latin typeface="Aptos"/>
                        </a:rPr>
                        <a:t>Action</a:t>
                      </a:r>
                      <a:r>
                        <a:rPr sz="1100" dirty="0">
                          <a:solidFill>
                            <a:srgbClr val="0F1B2B"/>
                          </a:solidFill>
                          <a:latin typeface="Aptos"/>
                        </a:rPr>
                        <a:t>  Conduct stay interview / check-in to identify grievances.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u="none" dirty="0">
                          <a:solidFill>
                            <a:srgbClr val="000000"/>
                          </a:solidFill>
                          <a:latin typeface="Aptos"/>
                        </a:rPr>
                        <a:t>Workload Imbalance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u="none" dirty="0">
                          <a:solidFill>
                            <a:srgbClr val="000000"/>
                          </a:solidFill>
                          <a:latin typeface="Aptos"/>
                        </a:rPr>
                        <a:t>Workload Pressure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Aptos"/>
                        </a:rPr>
                        <a:t>Priority</a:t>
                      </a:r>
                      <a:r>
                        <a:rPr sz="1100">
                          <a:solidFill>
                            <a:srgbClr val="0F1B2B"/>
                          </a:solidFill>
                          <a:latin typeface="Aptos"/>
                        </a:rPr>
                        <a:t>  Review project allocation and role support structure.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ptos"/>
                        </a:rPr>
                        <a:t>Unhealthy Working Hours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u="none" dirty="0">
                          <a:solidFill>
                            <a:srgbClr val="000000"/>
                          </a:solidFill>
                          <a:latin typeface="Aptos"/>
                        </a:rPr>
                        <a:t>Burnout Concern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D97706"/>
                          </a:solidFill>
                          <a:latin typeface="Aptos"/>
                        </a:rPr>
                        <a:t>Action</a:t>
                      </a:r>
                      <a:r>
                        <a:rPr sz="1100">
                          <a:solidFill>
                            <a:srgbClr val="0F1B2B"/>
                          </a:solidFill>
                          <a:latin typeface="Aptos"/>
                        </a:rPr>
                        <a:t>  Review working-hours and consider schedule adjustments.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ptos"/>
                        </a:rPr>
                        <a:t>Tenure-Related Risk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u="none" dirty="0">
                          <a:solidFill>
                            <a:srgbClr val="000000"/>
                          </a:solidFill>
                          <a:latin typeface="Aptos"/>
                        </a:rPr>
                        <a:t>Career Stagnation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D97706"/>
                          </a:solidFill>
                          <a:latin typeface="Aptos"/>
                        </a:rPr>
                        <a:t>Action</a:t>
                      </a:r>
                      <a:r>
                        <a:rPr sz="1100" dirty="0">
                          <a:solidFill>
                            <a:srgbClr val="0F1B2B"/>
                          </a:solidFill>
                          <a:latin typeface="Aptos"/>
                        </a:rPr>
                        <a:t>  Discuss career pathing, mentoring, or internal mobility.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ptos"/>
                        </a:rPr>
                        <a:t>Stalled Growth (Promo)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ptos"/>
                        </a:rPr>
                        <a:t>Growth Concern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D97706"/>
                          </a:solidFill>
                          <a:latin typeface="Aptos"/>
                        </a:rPr>
                        <a:t>Action</a:t>
                      </a:r>
                      <a:r>
                        <a:rPr sz="1100" dirty="0">
                          <a:solidFill>
                            <a:srgbClr val="0F1B2B"/>
                          </a:solidFill>
                          <a:latin typeface="Aptos"/>
                        </a:rPr>
                        <a:t>  Set clear promotion expectations / development plan.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ptos"/>
                        </a:rPr>
                        <a:t>Low Salary Band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ptos"/>
                        </a:rPr>
                        <a:t>Compensation Concern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EF4444"/>
                          </a:solidFill>
                          <a:latin typeface="Aptos"/>
                        </a:rPr>
                        <a:t>Priority</a:t>
                      </a:r>
                      <a:r>
                        <a:rPr sz="1100" dirty="0">
                          <a:solidFill>
                            <a:srgbClr val="0F1B2B"/>
                          </a:solidFill>
                          <a:latin typeface="Aptos"/>
                        </a:rPr>
                        <a:t>  Benchmark market rates and discuss pay progression.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ptos"/>
                        </a:rPr>
                        <a:t>High Risk Flag Overall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ptos"/>
                        </a:rPr>
                        <a:t>Priority HR Attention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D97706"/>
                          </a:solidFill>
                          <a:latin typeface="Aptos"/>
                        </a:rPr>
                        <a:t>Critical</a:t>
                      </a:r>
                      <a:r>
                        <a:rPr sz="1100" dirty="0">
                          <a:solidFill>
                            <a:srgbClr val="0F1B2B"/>
                          </a:solidFill>
                          <a:latin typeface="Aptos"/>
                        </a:rPr>
                        <a:t>  HR Business Partner requires closer review of the profile.</a:t>
                      </a:r>
                    </a:p>
                  </a:txBody>
                  <a:tcPr marL="64008" marR="64008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 dirty="0">
                <a:solidFill>
                  <a:srgbClr val="64748B"/>
                </a:solidFill>
                <a:latin typeface="Inter Medium"/>
              </a:rPr>
              <a:t>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6933158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29000" y="6933158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29400" y="6933158"/>
            <a:ext cx="4800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" y="139603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Technology &amp;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32470"/>
            <a:ext cx="112014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Merriweather"/>
              </a:rPr>
              <a:t>Application Architecture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94A3B8"/>
                </a:solidFill>
                <a:latin typeface="Inter Medium"/>
              </a:rPr>
              <a:t>14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925" y="2408783"/>
            <a:ext cx="2476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2563" y="2758628"/>
            <a:ext cx="93345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dirty="0">
                <a:solidFill>
                  <a:srgbClr val="F8FAFC"/>
                </a:solidFill>
              </a:rPr>
              <a:t>Python 3.13</a:t>
            </a:r>
          </a:p>
          <a:p>
            <a:pPr algn="ctr"/>
            <a:r>
              <a:rPr sz="1150" b="1" dirty="0">
                <a:solidFill>
                  <a:srgbClr val="F8FAFC"/>
                </a:solidFill>
              </a:rPr>
              <a:t>(Core Logic)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8725" y="2665958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325" y="2376076"/>
            <a:ext cx="247650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82952" y="2730556"/>
            <a:ext cx="93345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 u="none" dirty="0">
                <a:solidFill>
                  <a:srgbClr val="E2E8F0"/>
                </a:solidFill>
                <a:latin typeface="Inter SemiBold"/>
              </a:rPr>
              <a:t>Pandas</a:t>
            </a:r>
            <a:r>
              <a:rPr sz="1150" b="1" dirty="0"/>
              <a:t>
</a:t>
            </a:r>
            <a:r>
              <a:rPr sz="1150" b="1" i="0" u="none" dirty="0">
                <a:solidFill>
                  <a:srgbClr val="E2E8F0"/>
                </a:solidFill>
                <a:latin typeface="Inter SemiBold"/>
              </a:rPr>
              <a:t> (Data Processing)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0126" y="2665958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8676" y="2408783"/>
            <a:ext cx="285750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83341" y="2772529"/>
            <a:ext cx="93345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 u="none" dirty="0">
                <a:solidFill>
                  <a:srgbClr val="E2E8F0"/>
                </a:solidFill>
                <a:latin typeface="Inter SemiBold"/>
              </a:rPr>
              <a:t>Scikit-Learn</a:t>
            </a:r>
            <a:r>
              <a:rPr sz="1150" b="1" dirty="0"/>
              <a:t>
</a:t>
            </a:r>
            <a:r>
              <a:rPr sz="1150" b="1" i="0" u="none" dirty="0">
                <a:solidFill>
                  <a:srgbClr val="E2E8F0"/>
                </a:solidFill>
                <a:latin typeface="Inter SemiBold"/>
              </a:rPr>
              <a:t> (Clustering)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1526" y="2665958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2189" y="2373809"/>
            <a:ext cx="361950" cy="285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305752" y="2729920"/>
            <a:ext cx="93345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 u="none" dirty="0" err="1">
                <a:solidFill>
                  <a:srgbClr val="E2E8F0"/>
                </a:solidFill>
                <a:latin typeface="Inter SemiBold"/>
              </a:rPr>
              <a:t>Streamlit</a:t>
            </a:r>
            <a:r>
              <a:rPr sz="1150" b="1" dirty="0"/>
              <a:t>
</a:t>
            </a:r>
            <a:r>
              <a:rPr sz="1150" b="1" i="0" u="none" dirty="0">
                <a:solidFill>
                  <a:srgbClr val="E2E8F0"/>
                </a:solidFill>
                <a:latin typeface="Inter SemiBold"/>
              </a:rPr>
              <a:t> (Interactive UI)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061370"/>
            <a:ext cx="54006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>
                <a:solidFill>
                  <a:srgbClr val="F8FAFC"/>
                </a:solidFill>
              </a:rPr>
              <a:t>Primary Libraries &amp; Versions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4385220"/>
            <a:ext cx="5143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86500" y="4061370"/>
            <a:ext cx="54006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AI-Assisted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6500" y="4385220"/>
            <a:ext cx="5143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7750" y="4537620"/>
            <a:ext cx="4857750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30" b="0" dirty="0" err="1">
                <a:solidFill>
                  <a:srgbClr val="CBD5E1"/>
                </a:solidFill>
              </a:rPr>
              <a:t>Streamlit</a:t>
            </a:r>
            <a:r>
              <a:rPr sz="1430" b="0" dirty="0">
                <a:solidFill>
                  <a:srgbClr val="CBD5E1"/>
                </a:solidFill>
              </a:rPr>
              <a:t> ≥1.30: Web </a:t>
            </a:r>
            <a:r>
              <a:rPr sz="1430" dirty="0">
                <a:solidFill>
                  <a:srgbClr val="CBD5E1"/>
                </a:solidFill>
                <a:latin typeface="Inter"/>
              </a:rPr>
              <a:t>application</a:t>
            </a:r>
            <a:r>
              <a:rPr sz="1430" b="0" dirty="0">
                <a:solidFill>
                  <a:srgbClr val="CBD5E1"/>
                </a:solidFill>
              </a:rPr>
              <a:t>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4969966"/>
            <a:ext cx="4857750" cy="22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30" b="0" dirty="0">
                <a:solidFill>
                  <a:srgbClr val="CBD5E1"/>
                </a:solidFill>
              </a:rPr>
              <a:t>Pandas ≥1.5: Data processing &amp; aggregation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5402312"/>
            <a:ext cx="4857750" cy="22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30" b="0" dirty="0">
                <a:solidFill>
                  <a:srgbClr val="CBD5E1"/>
                </a:solidFill>
              </a:rPr>
              <a:t>Scikit-learn ≥1.3: K-Means clustering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5834657"/>
            <a:ext cx="4857750" cy="22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30" b="0" dirty="0" err="1">
                <a:solidFill>
                  <a:srgbClr val="CBD5E1"/>
                </a:solidFill>
              </a:rPr>
              <a:t>Plotly</a:t>
            </a:r>
            <a:r>
              <a:rPr sz="1430" b="0" dirty="0">
                <a:solidFill>
                  <a:srgbClr val="CBD5E1"/>
                </a:solidFill>
              </a:rPr>
              <a:t> ≥5.18 / Matplotlib ≥3.5: Data visualizations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9682" y="4508228"/>
            <a:ext cx="48577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rgbClr val="CBD5E1"/>
                </a:solidFill>
                <a:latin typeface="Inter"/>
              </a:rPr>
              <a:t>Brainstorming risk scoring rule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9682" y="4940574"/>
            <a:ext cx="48577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rgbClr val="CBD5E1"/>
                </a:solidFill>
                <a:latin typeface="Inter"/>
              </a:rPr>
              <a:t>Debugging Python and </a:t>
            </a:r>
            <a:r>
              <a:rPr sz="1425" b="0" i="0" u="none" dirty="0" err="1">
                <a:solidFill>
                  <a:srgbClr val="CBD5E1"/>
                </a:solidFill>
                <a:latin typeface="Inter"/>
              </a:rPr>
              <a:t>Streamlit</a:t>
            </a:r>
            <a:r>
              <a:rPr sz="1425" b="0" i="0" u="none" dirty="0">
                <a:solidFill>
                  <a:srgbClr val="CBD5E1"/>
                </a:solidFill>
                <a:latin typeface="Inter"/>
              </a:rPr>
              <a:t> execution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9682" y="5372920"/>
            <a:ext cx="48577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Code formatting and UI layout refinement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556670"/>
            <a:ext cx="95250" cy="200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989016"/>
            <a:ext cx="95250" cy="2000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421362"/>
            <a:ext cx="95250" cy="2000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853707"/>
            <a:ext cx="95250" cy="2000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3932" y="4527278"/>
            <a:ext cx="95250" cy="2000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3932" y="4959624"/>
            <a:ext cx="95250" cy="2000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3932" y="5391970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How to Use: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User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4748B"/>
                </a:solidFill>
                <a:latin typeface="Inter Medium"/>
              </a:rPr>
              <a:t>15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675" y="1835348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3731" y="2549723"/>
            <a:ext cx="109013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B192C"/>
                </a:solidFill>
                <a:latin typeface="Inter"/>
              </a:rPr>
              <a:t>1. Launch App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275" y="1835348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62312" y="2549723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B192C"/>
                </a:solidFill>
                <a:latin typeface="Inter"/>
              </a:rPr>
              <a:t>2. View Overview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1835348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15927" y="2549723"/>
            <a:ext cx="116014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B192C"/>
                </a:solidFill>
                <a:latin typeface="Inter"/>
              </a:rPr>
              <a:t>3. Explore Risk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475" y="1835348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39513" y="2549723"/>
            <a:ext cx="138017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B192C"/>
                </a:solidFill>
                <a:latin typeface="Inter"/>
              </a:rPr>
              <a:t>4. Analyze Profile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5075" y="1835348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83127" y="2549723"/>
            <a:ext cx="116014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B192C"/>
                </a:solidFill>
                <a:latin typeface="Inter"/>
              </a:rPr>
              <a:t>5. Plan Actions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7150" y="1987748"/>
            <a:ext cx="1905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0275" y="1987748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987748"/>
            <a:ext cx="15240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7000" y="1987748"/>
            <a:ext cx="152400" cy="1714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238250" y="2359223"/>
            <a:ext cx="97155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80A2D-A093-5D42-CF7B-BE5FF0F1969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4848" y="3095476"/>
            <a:ext cx="5535261" cy="29702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E707D2A-5A04-5A3F-6A11-6B9A486DF1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1" y="3095476"/>
            <a:ext cx="5749318" cy="29871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31787"/>
            <a:ext cx="5048250" cy="3171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31787"/>
            <a:ext cx="5048250" cy="3171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2355637"/>
            <a:ext cx="57150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355637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Development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Challenges &amp; 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94A3B8"/>
                </a:solidFill>
                <a:latin typeface="Inter Medium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117637"/>
            <a:ext cx="246030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 SemiBold"/>
              </a:rPr>
              <a:t>1. Metric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479587"/>
            <a:ext cx="4552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Different employee attributes have vastly different scales (e.g., Working hours vs. 0-1 Satisfaction ratings).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051087"/>
            <a:ext cx="914400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0B981"/>
                </a:solidFill>
                <a:latin typeface="Inter SemiBold"/>
              </a:rPr>
              <a:t>Mitigation: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265400"/>
            <a:ext cx="4552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Implemented a weighted, threshold-based scoring framework mapping diverse data inputs to a unified 0-100 scale based on business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117637"/>
            <a:ext cx="251031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 SemiBold"/>
              </a:rPr>
              <a:t>2. Meaningful Grouping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79587"/>
            <a:ext cx="4552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Static filtering alone does not intuitively reveal common underlying risk patterns across a large workforce.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51087"/>
            <a:ext cx="914400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0B981"/>
                </a:solidFill>
                <a:latin typeface="Inter SemiBold"/>
              </a:rPr>
              <a:t>Mitigation: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65400"/>
            <a:ext cx="4552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Applied Scikit-Learn's K-Means clustering algorithm on risk components to generate actionable, data-driven employee risk personas.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2488987"/>
            <a:ext cx="3810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4079662"/>
            <a:ext cx="1428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2488987"/>
            <a:ext cx="3810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079662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B192C"/>
                </a:solidFill>
                <a:latin typeface="Merriweather"/>
              </a:rPr>
              <a:t>Future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4748B"/>
                </a:solidFill>
                <a:latin typeface="Inter Medium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245" y="1244105"/>
            <a:ext cx="530066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0B192C"/>
                </a:solidFill>
                <a:latin typeface="Inter"/>
              </a:rPr>
              <a:t>System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8" y="1770619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Phase 1: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Additional employee attributes and richer HR data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68" y="2492436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334155"/>
                </a:solidFill>
                <a:latin typeface="Inter"/>
              </a:rPr>
              <a:t>Phase 2:</a:t>
            </a:r>
            <a:r>
              <a:rPr sz="1425" b="0" i="0" u="none" dirty="0">
                <a:solidFill>
                  <a:srgbClr val="334155"/>
                </a:solidFill>
                <a:latin typeface="Inter"/>
              </a:rPr>
              <a:t> Evaluate predictive ML models using historical attrition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68" y="3214252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Phase 3: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Potential secure HRIS integration (e.g., Workday API).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68" y="3689604"/>
            <a:ext cx="4762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334155"/>
                </a:solidFill>
                <a:latin typeface="Inter"/>
              </a:rPr>
              <a:t>Phase 4:</a:t>
            </a:r>
            <a:r>
              <a:rPr sz="1425" b="0" i="0" u="none" dirty="0">
                <a:solidFill>
                  <a:srgbClr val="334155"/>
                </a:solidFill>
                <a:latin typeface="Inter"/>
              </a:rPr>
              <a:t> Intervention tracking and retention outcome measurement.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245" y="4488385"/>
            <a:ext cx="4572000" cy="1144744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374B6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dirty="0"/>
          </a:p>
          <a:p>
            <a:r>
              <a:rPr dirty="0"/>
              <a:t>"</a:t>
            </a:r>
            <a:r>
              <a:rPr dirty="0" err="1"/>
              <a:t>Fro</a:t>
            </a:r>
            <a:r>
              <a:rPr lang="en-IN" dirty="0"/>
              <a:t>m </a:t>
            </a:r>
            <a:r>
              <a:rPr lang="en-IN" dirty="0" err="1"/>
              <a:t>i</a:t>
            </a:r>
            <a:r>
              <a:rPr dirty="0" err="1"/>
              <a:t>dentifying</a:t>
            </a:r>
            <a:r>
              <a:rPr dirty="0"/>
              <a:t> attrition risk to enabling timely retention action."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7" y="1394460"/>
            <a:ext cx="5686592" cy="4069080"/>
          </a:xfrm>
          <a:prstGeom prst="rect">
            <a:avLst/>
          </a:prstGeom>
          <a:solidFill>
            <a:srgbClr val="0F1B2B"/>
          </a:solidFill>
          <a:ln w="10160">
            <a:solidFill>
              <a:srgbClr val="37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623060"/>
            <a:ext cx="4389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FUTURE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7" y="2007108"/>
            <a:ext cx="5258708" cy="649314"/>
          </a:xfrm>
          <a:prstGeom prst="roundRect">
            <a:avLst/>
          </a:prstGeom>
          <a:solidFill>
            <a:srgbClr val="1E2B3D"/>
          </a:solidFill>
          <a:ln w="10160">
            <a:solidFill>
              <a:srgbClr val="37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19088" y="2007108"/>
            <a:ext cx="64008" cy="6949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2212150"/>
            <a:ext cx="7132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 dirty="0">
                <a:solidFill>
                  <a:srgbClr val="38BDF8"/>
                </a:solidFill>
                <a:latin typeface="Aptos"/>
              </a:rP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203704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F8FAFC"/>
                </a:solidFill>
                <a:latin typeface="Aptos"/>
              </a:rPr>
              <a:t>Richer HR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043684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Add employee attributes and deeper HR data integration.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7" y="2830068"/>
            <a:ext cx="5258707" cy="658547"/>
          </a:xfrm>
          <a:prstGeom prst="roundRect">
            <a:avLst/>
          </a:prstGeom>
          <a:solidFill>
            <a:srgbClr val="1E2B3D"/>
          </a:solidFill>
          <a:ln w="10160">
            <a:solidFill>
              <a:srgbClr val="37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19088" y="2830068"/>
            <a:ext cx="64008" cy="69494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035808"/>
            <a:ext cx="7132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 dirty="0">
                <a:solidFill>
                  <a:srgbClr val="2DD4BF"/>
                </a:solidFill>
                <a:latin typeface="Aptos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029551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F8FAFC"/>
                </a:solidFill>
                <a:latin typeface="Aptos"/>
              </a:rPr>
              <a:t>Predictive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866644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Evaluate predictive models using historical attrition outcomes.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653028"/>
            <a:ext cx="5258706" cy="641180"/>
          </a:xfrm>
          <a:prstGeom prst="roundRect">
            <a:avLst/>
          </a:prstGeom>
          <a:solidFill>
            <a:srgbClr val="1E2B3D"/>
          </a:solidFill>
          <a:ln w="10160">
            <a:solidFill>
              <a:srgbClr val="37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9088" y="3653028"/>
            <a:ext cx="64008" cy="694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862959"/>
            <a:ext cx="7132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 dirty="0">
                <a:solidFill>
                  <a:srgbClr val="F59E0B"/>
                </a:solidFill>
                <a:latin typeface="Aptos"/>
              </a:rP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849947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F8FAFC"/>
                </a:solidFill>
                <a:latin typeface="Aptos"/>
              </a:rPr>
              <a:t>HRIS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689604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Explore secure HRIS connectivity such as Workday API.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4475988"/>
            <a:ext cx="5258706" cy="641180"/>
          </a:xfrm>
          <a:prstGeom prst="roundRect">
            <a:avLst/>
          </a:prstGeom>
          <a:solidFill>
            <a:srgbClr val="1E2B3D"/>
          </a:solidFill>
          <a:ln w="10160">
            <a:solidFill>
              <a:srgbClr val="37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9088" y="4475988"/>
            <a:ext cx="64008" cy="6949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16137" y="4674543"/>
            <a:ext cx="7132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 dirty="0">
                <a:solidFill>
                  <a:srgbClr val="EF4444"/>
                </a:solidFill>
                <a:latin typeface="Aptos"/>
              </a:rP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668191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F8FAFC"/>
                </a:solidFill>
                <a:latin typeface="Aptos"/>
              </a:rPr>
              <a:t>Outcome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512564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Track interventions and measure retention outcomes.</a:t>
            </a:r>
          </a:p>
        </p:txBody>
      </p:sp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1ECDCD3F-CAEB-B316-2803-17C8D705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70" y="4617557"/>
            <a:ext cx="209550" cy="228600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8CB58D71-F2E4-DAB5-232F-515A28D87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Merriweather"/>
              </a:rPr>
              <a:t>Appendix: </a:t>
            </a:r>
            <a:r>
              <a:rPr sz="3150" b="1" i="0" u="none">
                <a:solidFill>
                  <a:srgbClr val="0D9488"/>
                </a:solidFill>
                <a:latin typeface="Merriweather"/>
              </a:rPr>
              <a:t>Detailed Risk Scoring Rules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541014"/>
              </p:ext>
            </p:extLst>
          </p:nvPr>
        </p:nvGraphicFramePr>
        <p:xfrm>
          <a:off x="771526" y="1484888"/>
          <a:ext cx="10658474" cy="402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u="none" dirty="0">
                          <a:solidFill>
                            <a:srgbClr val="0D9488"/>
                          </a:solidFill>
                          <a:latin typeface="Aptos"/>
                        </a:rPr>
                        <a:t>Risk Factor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u="none" dirty="0">
                          <a:solidFill>
                            <a:srgbClr val="0D9488"/>
                          </a:solidFill>
                          <a:latin typeface="Aptos"/>
                        </a:rPr>
                        <a:t>Max Points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 u="none" dirty="0">
                          <a:solidFill>
                            <a:srgbClr val="0D9488"/>
                          </a:solidFill>
                          <a:latin typeface="Aptos"/>
                        </a:rPr>
                        <a:t>Implemented Business Rule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069">
                <a:tc>
                  <a:txBody>
                    <a:bodyPr/>
                    <a:lstStyle/>
                    <a:p>
                      <a:r>
                        <a:rPr sz="1030" b="1" dirty="0">
                          <a:solidFill>
                            <a:srgbClr val="F8FAFC"/>
                          </a:solidFill>
                          <a:latin typeface="Aptos"/>
                        </a:rPr>
                        <a:t>Low Job Satisfaction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 u="none" dirty="0">
                          <a:solidFill>
                            <a:srgbClr val="F8FAFC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30" dirty="0">
                          <a:solidFill>
                            <a:srgbClr val="CBD5E1"/>
                          </a:solidFill>
                          <a:latin typeface="Aptos"/>
                        </a:rPr>
                        <a:t>Scales inversely with the satisfaction score.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sz="1030" b="1" dirty="0">
                          <a:solidFill>
                            <a:srgbClr val="F8FAFC"/>
                          </a:solidFill>
                          <a:latin typeface="Aptos"/>
                        </a:rPr>
                        <a:t>Workload Imbalance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 u="none" dirty="0">
                          <a:solidFill>
                            <a:srgbClr val="F8FAFC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30" dirty="0">
                          <a:solidFill>
                            <a:srgbClr val="CBD5E1"/>
                          </a:solidFill>
                          <a:latin typeface="Aptos"/>
                        </a:rPr>
                        <a:t>3–4 projects = optimal; 5–6 = mild risk; ≤2 or ≥7 = full workload penalty.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r>
                        <a:rPr sz="1030" b="1" dirty="0">
                          <a:solidFill>
                            <a:srgbClr val="F8FAFC"/>
                          </a:solidFill>
                          <a:latin typeface="Aptos"/>
                        </a:rPr>
                        <a:t>Unhealthy Working Hours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 u="none" dirty="0">
                          <a:solidFill>
                            <a:srgbClr val="F8FAFC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30" dirty="0">
                          <a:solidFill>
                            <a:srgbClr val="CBD5E1"/>
                          </a:solidFill>
                          <a:latin typeface="Aptos"/>
                        </a:rPr>
                        <a:t>150–240 hours = healthy; outside this range adds risk, capped at 310 hours.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466">
                <a:tc>
                  <a:txBody>
                    <a:bodyPr/>
                    <a:lstStyle/>
                    <a:p>
                      <a:r>
                        <a:rPr sz="1030" b="1" dirty="0">
                          <a:solidFill>
                            <a:srgbClr val="F8FAFC"/>
                          </a:solidFill>
                          <a:latin typeface="Aptos"/>
                        </a:rPr>
                        <a:t>High-Attrition Tenure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 u="none" dirty="0">
                          <a:solidFill>
                            <a:srgbClr val="F8FAFC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30" dirty="0">
                          <a:solidFill>
                            <a:srgbClr val="CBD5E1"/>
                          </a:solidFill>
                          <a:latin typeface="Aptos"/>
                        </a:rPr>
                        <a:t>4–5 years = high-risk zone; 3–6 years = medium concern.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sz="1030" b="1" dirty="0">
                          <a:solidFill>
                            <a:srgbClr val="F8FAFC"/>
                          </a:solidFill>
                          <a:latin typeface="Aptos"/>
                        </a:rPr>
                        <a:t>Stalled Growth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 u="none" dirty="0">
                          <a:solidFill>
                            <a:srgbClr val="F8FAFC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30" dirty="0">
                          <a:solidFill>
                            <a:srgbClr val="CBD5E1"/>
                          </a:solidFill>
                          <a:latin typeface="Aptos"/>
                        </a:rPr>
                        <a:t>No promotion in 5 years; stronger penalty for employees with tenure ≥3 years.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sz="1030" b="1" dirty="0">
                          <a:solidFill>
                            <a:srgbClr val="F8FAFC"/>
                          </a:solidFill>
                          <a:latin typeface="Aptos"/>
                        </a:rPr>
                        <a:t>Low Compensation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 u="none" dirty="0">
                          <a:solidFill>
                            <a:srgbClr val="F8FAFC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30" dirty="0">
                          <a:solidFill>
                            <a:srgbClr val="CBD5E1"/>
                          </a:solidFill>
                          <a:latin typeface="Aptos"/>
                        </a:rPr>
                        <a:t>Low band = full penalty; medium = half; high = zero.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539">
                <a:tc>
                  <a:txBody>
                    <a:bodyPr/>
                    <a:lstStyle/>
                    <a:p>
                      <a:r>
                        <a:rPr sz="1030" b="1" dirty="0">
                          <a:solidFill>
                            <a:srgbClr val="F8FAFC"/>
                          </a:solidFill>
                          <a:latin typeface="Aptos"/>
                        </a:rPr>
                        <a:t>Silent Burnout Signs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 u="none" dirty="0">
                          <a:solidFill>
                            <a:srgbClr val="F8FAFC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30" dirty="0">
                          <a:solidFill>
                            <a:srgbClr val="CBD5E1"/>
                          </a:solidFill>
                          <a:latin typeface="Aptos"/>
                        </a:rPr>
                        <a:t>Evaluation ≥0.80, hours ≥220/month, and satisfaction ≤0.50 trigger burnout flight-risk penalty.</a:t>
                      </a:r>
                    </a:p>
                  </a:txBody>
                  <a:tcPr marL="54864" marR="54864" marT="41148" marB="41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6347370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 dirty="0">
                <a:solidFill>
                  <a:srgbClr val="94A3B8"/>
                </a:solidFill>
                <a:latin typeface="Inter"/>
              </a:rPr>
              <a:t>Total Maximum Score: 100. High Risk Threshold: ≥ 65. Medium Risk Threshold: ≥ 35.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410325"/>
            <a:ext cx="3200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94A3B8"/>
                </a:solidFill>
                <a:latin typeface="Inter Medium"/>
              </a:rPr>
              <a:t>18</a:t>
            </a:r>
          </a:p>
        </p:txBody>
      </p:sp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28C16E39-7348-756D-F4BC-E1DC8C9F1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57925"/>
            <a:ext cx="10668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48007" y="2318007"/>
            <a:ext cx="416052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1" i="0" u="none">
                <a:solidFill>
                  <a:srgbClr val="FFFFFF"/>
                </a:solidFill>
                <a:latin typeface="Merriweather"/>
              </a:rPr>
              <a:t>Thank </a:t>
            </a:r>
            <a:r>
              <a:rPr sz="6000" b="1" i="0" u="none">
                <a:solidFill>
                  <a:srgbClr val="0D9488"/>
                </a:solidFill>
                <a:latin typeface="Merriweather"/>
              </a:rPr>
              <a:t>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87125" y="6410325"/>
            <a:ext cx="142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 Medium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6679" y="3632457"/>
            <a:ext cx="25431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1468</Words>
  <Application>Microsoft Office PowerPoint</Application>
  <PresentationFormat>Widescreen</PresentationFormat>
  <Paragraphs>229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Arial</vt:lpstr>
      <vt:lpstr>Calibri</vt:lpstr>
      <vt:lpstr>Georgia</vt:lpstr>
      <vt:lpstr>Inter</vt:lpstr>
      <vt:lpstr>Inter Medium</vt:lpstr>
      <vt:lpstr>Inter SemiBold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Super Scarab</cp:lastModifiedBy>
  <cp:revision>7</cp:revision>
  <dcterms:created xsi:type="dcterms:W3CDTF">2013-01-27T09:14:16Z</dcterms:created>
  <dcterms:modified xsi:type="dcterms:W3CDTF">2026-09-17T12:45:02Z</dcterms:modified>
  <cp:category/>
</cp:coreProperties>
</file>